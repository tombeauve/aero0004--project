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7" r:id="rId6"/>
    <p:sldId id="273" r:id="rId7"/>
    <p:sldId id="269" r:id="rId8"/>
    <p:sldId id="272" r:id="rId9"/>
    <p:sldId id="271" r:id="rId10"/>
    <p:sldId id="265" r:id="rId11"/>
    <p:sldId id="266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A4B0"/>
    <a:srgbClr val="1FBADB"/>
    <a:srgbClr val="00707F"/>
    <a:srgbClr val="ED7D31"/>
    <a:srgbClr val="D62728"/>
    <a:srgbClr val="1F77B4"/>
    <a:srgbClr val="005CA9"/>
    <a:srgbClr val="5B2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227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365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377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3425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109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0277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0752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6545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827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5747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536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99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D8C74-EA43-4F75-8DF7-3EBDB693673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C9A07-B69C-46AD-8568-0738FEE1CB2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052A8F-B4D6-5DE1-3BC0-97A5B7799072}"/>
              </a:ext>
            </a:extLst>
          </p:cNvPr>
          <p:cNvSpPr/>
          <p:nvPr/>
        </p:nvSpPr>
        <p:spPr>
          <a:xfrm>
            <a:off x="0" y="6210524"/>
            <a:ext cx="9143999" cy="653810"/>
          </a:xfrm>
          <a:prstGeom prst="rect">
            <a:avLst/>
          </a:prstGeom>
          <a:solidFill>
            <a:srgbClr val="00707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2D8CCA-D527-1259-B6BC-8E7A8DA06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" y="1112119"/>
            <a:ext cx="9144000" cy="2149475"/>
          </a:xfrm>
        </p:spPr>
        <p:txBody>
          <a:bodyPr>
            <a:normAutofit/>
          </a:bodyPr>
          <a:lstStyle/>
          <a:p>
            <a:r>
              <a:rPr lang="en-GB" sz="5000">
                <a:latin typeface="Arial"/>
                <a:cs typeface="Arial"/>
              </a:rPr>
              <a:t>2D RANS Simulation </a:t>
            </a:r>
            <a:br>
              <a:rPr lang="en-GB" sz="5000">
                <a:latin typeface="Arial"/>
                <a:cs typeface="Arial"/>
              </a:rPr>
            </a:br>
            <a:r>
              <a:rPr lang="en-GB" sz="5000">
                <a:latin typeface="Arial"/>
                <a:cs typeface="Arial"/>
              </a:rPr>
              <a:t>of an Axisymmetric Turbulent </a:t>
            </a:r>
            <a:br>
              <a:rPr lang="en-GB" sz="5000">
                <a:latin typeface="Arial"/>
                <a:cs typeface="Arial"/>
              </a:rPr>
            </a:br>
            <a:r>
              <a:rPr lang="en-GB" sz="5000">
                <a:latin typeface="Arial"/>
                <a:cs typeface="Arial"/>
              </a:rPr>
              <a:t>Round Jet</a:t>
            </a:r>
            <a:endParaRPr lang="en-US" sz="500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95C51D-2163-32CB-31AE-9A167A867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200746"/>
            <a:ext cx="6858000" cy="652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>
                <a:latin typeface="Arial"/>
                <a:cs typeface="Arial"/>
              </a:rPr>
              <a:t>AERO0004 : Turbulent Flows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>
                <a:latin typeface="Arial"/>
                <a:cs typeface="Arial"/>
              </a:rPr>
              <a:t>2025 - 2026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DBAD4DA-9695-255A-B165-14823B49A8A4}"/>
              </a:ext>
            </a:extLst>
          </p:cNvPr>
          <p:cNvSpPr>
            <a:spLocks noGrp="1"/>
          </p:cNvSpPr>
          <p:nvPr/>
        </p:nvSpPr>
        <p:spPr>
          <a:xfrm>
            <a:off x="852063" y="5099332"/>
            <a:ext cx="2674180" cy="9961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800" b="1" noProof="0" dirty="0">
              <a:ea typeface="+mn-lt"/>
              <a:cs typeface="+mn-lt"/>
            </a:endParaRPr>
          </a:p>
          <a:p>
            <a:pPr algn="l"/>
            <a:r>
              <a:rPr lang="en-GB" sz="2000" b="1" dirty="0">
                <a:latin typeface="Arial"/>
                <a:cs typeface="Arial"/>
              </a:rPr>
              <a:t>Tom BEAUVE</a:t>
            </a:r>
          </a:p>
          <a:p>
            <a:pPr algn="l"/>
            <a:r>
              <a:rPr lang="en-GB" sz="2000" b="1" dirty="0">
                <a:latin typeface="Arial"/>
                <a:cs typeface="Arial"/>
              </a:rPr>
              <a:t>Guillaume VAILLOT</a:t>
            </a:r>
          </a:p>
        </p:txBody>
      </p:sp>
      <p:pic>
        <p:nvPicPr>
          <p:cNvPr id="5" name="Image 4" descr="Une image contenant Graphique, Polic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294CE74-D288-6B33-BFEB-B22D52BB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985" y="3235"/>
            <a:ext cx="4163863" cy="1097532"/>
          </a:xfrm>
          <a:prstGeom prst="rect">
            <a:avLst/>
          </a:prstGeom>
        </p:spPr>
      </p:pic>
      <p:sp>
        <p:nvSpPr>
          <p:cNvPr id="9" name="Triangle rectangle 8">
            <a:extLst>
              <a:ext uri="{FF2B5EF4-FFF2-40B4-BE49-F238E27FC236}">
                <a16:creationId xmlns:a16="http://schemas.microsoft.com/office/drawing/2014/main" id="{6C8757D2-E3F3-F3E5-3F06-72EE743C8ED2}"/>
              </a:ext>
            </a:extLst>
          </p:cNvPr>
          <p:cNvSpPr/>
          <p:nvPr/>
        </p:nvSpPr>
        <p:spPr>
          <a:xfrm rot="5400000">
            <a:off x="-24262" y="20128"/>
            <a:ext cx="2013908" cy="1970956"/>
          </a:xfrm>
          <a:prstGeom prst="rtTriangle">
            <a:avLst/>
          </a:prstGeom>
          <a:solidFill>
            <a:srgbClr val="00707F"/>
          </a:solidFill>
          <a:ln>
            <a:solidFill>
              <a:srgbClr val="0070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EF0647B2-EAFF-0FAC-350C-EF502DC0ED9A}"/>
              </a:ext>
            </a:extLst>
          </p:cNvPr>
          <p:cNvSpPr/>
          <p:nvPr/>
        </p:nvSpPr>
        <p:spPr>
          <a:xfrm rot="16200000">
            <a:off x="7148063" y="4868353"/>
            <a:ext cx="2013908" cy="197095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3A5DA052-00AA-4A92-CC8C-5A524637000C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1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" name="Image 5" descr="Une image contenant capture d’écran, Caractère coloré, Bleu électrique, Graphique&#10;&#10;Le contenu généré par l’IA peut être incorrect.">
            <a:extLst>
              <a:ext uri="{FF2B5EF4-FFF2-40B4-BE49-F238E27FC236}">
                <a16:creationId xmlns:a16="http://schemas.microsoft.com/office/drawing/2014/main" id="{EE750D24-A313-2AAD-432B-FC92A1290A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4" t="23163" r="1" b="23164"/>
          <a:stretch>
            <a:fillRect/>
          </a:stretch>
        </p:blipFill>
        <p:spPr>
          <a:xfrm>
            <a:off x="4722051" y="3575064"/>
            <a:ext cx="3787488" cy="1377112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642BF77-0B5F-5F84-1A8E-084DAE8A6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82"/>
          <a:stretch>
            <a:fillRect/>
          </a:stretch>
        </p:blipFill>
        <p:spPr bwMode="auto">
          <a:xfrm>
            <a:off x="611241" y="3575064"/>
            <a:ext cx="3787488" cy="137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4D6CF3-46D6-245F-28C8-A0A59F4957ED}"/>
              </a:ext>
            </a:extLst>
          </p:cNvPr>
          <p:cNvSpPr txBox="1"/>
          <p:nvPr/>
        </p:nvSpPr>
        <p:spPr>
          <a:xfrm>
            <a:off x="611241" y="4952176"/>
            <a:ext cx="3723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 adapted from: M. </a:t>
            </a:r>
            <a:r>
              <a:rPr lang="en-GB" sz="14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Oberlack</a:t>
            </a:r>
            <a:r>
              <a:rPr lang="en-GB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2022 [1]</a:t>
            </a:r>
          </a:p>
        </p:txBody>
      </p:sp>
    </p:spTree>
    <p:extLst>
      <p:ext uri="{BB962C8B-B14F-4D97-AF65-F5344CB8AC3E}">
        <p14:creationId xmlns:p14="http://schemas.microsoft.com/office/powerpoint/2010/main" val="46942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C834B2B3-ABF8-6CA1-27A4-21E5278400F9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59B1EC-346E-07A9-B7AE-C6C2996A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Arial"/>
                <a:cs typeface="Arial"/>
              </a:rPr>
              <a:t>Problem description &amp; geometry</a:t>
            </a:r>
          </a:p>
        </p:txBody>
      </p:sp>
      <p:pic>
        <p:nvPicPr>
          <p:cNvPr id="4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BD423F7-B7E5-2B78-F998-F139002ED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5" name="Espace réservé du numéro de diapositive 8">
            <a:extLst>
              <a:ext uri="{FF2B5EF4-FFF2-40B4-BE49-F238E27FC236}">
                <a16:creationId xmlns:a16="http://schemas.microsoft.com/office/drawing/2014/main" id="{5D85F079-7C91-9D33-EE2E-C91778004D8E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2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3" name="Image 2" descr="Une image contenant ligne, diagramme&#10;&#10;Le contenu généré par l’IA peut être incorrect.">
            <a:extLst>
              <a:ext uri="{FF2B5EF4-FFF2-40B4-BE49-F238E27FC236}">
                <a16:creationId xmlns:a16="http://schemas.microsoft.com/office/drawing/2014/main" id="{9C68A53B-0FBA-8532-D1F7-88C542CD3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0" t="3079" r="871" b="1414"/>
          <a:stretch>
            <a:fillRect/>
          </a:stretch>
        </p:blipFill>
        <p:spPr>
          <a:xfrm>
            <a:off x="2359914" y="3385446"/>
            <a:ext cx="4403346" cy="2819915"/>
          </a:xfrm>
          <a:prstGeom prst="rect">
            <a:avLst/>
          </a:prstGeom>
          <a:ln>
            <a:noFill/>
          </a:ln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CBF6044-41E6-4628-E2AD-AB7CF14282A2}"/>
              </a:ext>
            </a:extLst>
          </p:cNvPr>
          <p:cNvSpPr/>
          <p:nvPr/>
        </p:nvSpPr>
        <p:spPr>
          <a:xfrm>
            <a:off x="994853" y="4249207"/>
            <a:ext cx="1366680" cy="944044"/>
          </a:xfrm>
          <a:prstGeom prst="rightArrow">
            <a:avLst/>
          </a:prstGeom>
          <a:solidFill>
            <a:srgbClr val="1FBA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Velocity</a:t>
            </a:r>
          </a:p>
          <a:p>
            <a:pPr algn="ctr"/>
            <a:r>
              <a:rPr lang="fr-FR" err="1">
                <a:solidFill>
                  <a:schemeClr val="tx1"/>
                </a:solidFill>
              </a:rPr>
              <a:t>Inlet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5F16103D-E2BD-50A9-C2E8-FFAD748F6713}"/>
              </a:ext>
            </a:extLst>
          </p:cNvPr>
          <p:cNvSpPr/>
          <p:nvPr/>
        </p:nvSpPr>
        <p:spPr>
          <a:xfrm>
            <a:off x="6867379" y="4250216"/>
            <a:ext cx="1405764" cy="943035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Pressure</a:t>
            </a:r>
          </a:p>
          <a:p>
            <a:pPr algn="ctr"/>
            <a:r>
              <a:rPr lang="fr-FR" dirty="0" err="1">
                <a:solidFill>
                  <a:schemeClr val="tx1"/>
                </a:solidFill>
              </a:rPr>
              <a:t>Outlet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01E7427-DF18-71E3-FD35-7895145FF47E}"/>
              </a:ext>
            </a:extLst>
          </p:cNvPr>
          <p:cNvCxnSpPr/>
          <p:nvPr/>
        </p:nvCxnSpPr>
        <p:spPr>
          <a:xfrm flipV="1">
            <a:off x="3184788" y="3509990"/>
            <a:ext cx="2756430" cy="1043768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9CCD921-9A9C-88C8-D3DB-6D75BFF7788B}"/>
              </a:ext>
            </a:extLst>
          </p:cNvPr>
          <p:cNvCxnSpPr>
            <a:cxnSpLocks/>
          </p:cNvCxnSpPr>
          <p:nvPr/>
        </p:nvCxnSpPr>
        <p:spPr>
          <a:xfrm>
            <a:off x="3184788" y="4884530"/>
            <a:ext cx="2756430" cy="1029068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351C142-BDEA-CAC4-B4D1-C23DCDBBACCF}"/>
              </a:ext>
            </a:extLst>
          </p:cNvPr>
          <p:cNvCxnSpPr>
            <a:cxnSpLocks/>
          </p:cNvCxnSpPr>
          <p:nvPr/>
        </p:nvCxnSpPr>
        <p:spPr>
          <a:xfrm flipH="1">
            <a:off x="2506858" y="4536677"/>
            <a:ext cx="1" cy="382225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166EF4D0-7207-77A9-00D9-3AD17FB46856}"/>
              </a:ext>
            </a:extLst>
          </p:cNvPr>
          <p:cNvSpPr txBox="1"/>
          <p:nvPr/>
        </p:nvSpPr>
        <p:spPr>
          <a:xfrm>
            <a:off x="3346498" y="3598195"/>
            <a:ext cx="12128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err="1">
                <a:solidFill>
                  <a:srgbClr val="5FA4B0"/>
                </a:solidFill>
                <a:latin typeface="Arial"/>
                <a:cs typeface="Arial"/>
              </a:rPr>
              <a:t>Latteral</a:t>
            </a:r>
            <a:r>
              <a:rPr lang="fr-FR" dirty="0">
                <a:solidFill>
                  <a:srgbClr val="5FA4B0"/>
                </a:solidFill>
                <a:latin typeface="Arial"/>
                <a:cs typeface="Arial"/>
              </a:rPr>
              <a:t> </a:t>
            </a:r>
            <a:r>
              <a:rPr lang="fr-FR" err="1">
                <a:solidFill>
                  <a:srgbClr val="5FA4B0"/>
                </a:solidFill>
                <a:latin typeface="Arial"/>
                <a:cs typeface="Arial"/>
              </a:rPr>
              <a:t>inlet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F9D568F2-1A28-F54A-D3DE-E2F259925AE7}"/>
              </a:ext>
            </a:extLst>
          </p:cNvPr>
          <p:cNvCxnSpPr>
            <a:cxnSpLocks/>
          </p:cNvCxnSpPr>
          <p:nvPr/>
        </p:nvCxnSpPr>
        <p:spPr>
          <a:xfrm flipV="1">
            <a:off x="5912835" y="3506698"/>
            <a:ext cx="5712" cy="2437166"/>
          </a:xfrm>
          <a:prstGeom prst="straightConnector1">
            <a:avLst/>
          </a:prstGeom>
          <a:ln w="571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E902EE89-4DFB-F496-2F3E-09E9F9693C43}"/>
              </a:ext>
            </a:extLst>
          </p:cNvPr>
          <p:cNvSpPr txBox="1"/>
          <p:nvPr/>
        </p:nvSpPr>
        <p:spPr>
          <a:xfrm>
            <a:off x="5142926" y="2081985"/>
            <a:ext cx="3046061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a) Turbulent tube </a:t>
            </a:r>
            <a:r>
              <a:rPr lang="fr-FR" dirty="0" err="1">
                <a:latin typeface="Arial"/>
                <a:cs typeface="Arial"/>
              </a:rPr>
              <a:t>inlet</a:t>
            </a:r>
            <a:endParaRPr lang="fr-FR" dirty="0" err="1"/>
          </a:p>
          <a:p>
            <a:pPr algn="ctr"/>
            <a:r>
              <a:rPr lang="fr-FR" dirty="0">
                <a:latin typeface="Arial"/>
                <a:cs typeface="Arial"/>
              </a:rPr>
              <a:t>b) </a:t>
            </a:r>
            <a:r>
              <a:rPr lang="fr-FR" dirty="0" err="1">
                <a:latin typeface="Arial"/>
                <a:cs typeface="Arial"/>
              </a:rPr>
              <a:t>Study</a:t>
            </a:r>
            <a:r>
              <a:rPr lang="fr-FR" dirty="0">
                <a:latin typeface="Arial"/>
                <a:cs typeface="Arial"/>
              </a:rPr>
              <a:t> </a:t>
            </a:r>
            <a:r>
              <a:rPr lang="fr-FR" dirty="0" err="1">
                <a:latin typeface="Arial"/>
                <a:cs typeface="Arial"/>
              </a:rPr>
              <a:t>domain</a:t>
            </a:r>
            <a:endParaRPr lang="en-GB" dirty="0" err="1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461BABE-3970-E0FF-D59A-BEC88FD2264A}"/>
              </a:ext>
            </a:extLst>
          </p:cNvPr>
          <p:cNvSpPr txBox="1"/>
          <p:nvPr/>
        </p:nvSpPr>
        <p:spPr>
          <a:xfrm>
            <a:off x="949589" y="1941739"/>
            <a:ext cx="3046061" cy="92333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3D DNS Reference setup</a:t>
            </a:r>
            <a:endParaRPr lang="en-US" dirty="0">
              <a:latin typeface="Arial"/>
              <a:cs typeface="Arial"/>
            </a:endParaRPr>
          </a:p>
          <a:p>
            <a:pPr marL="285750" indent="-285750" algn="ctr">
              <a:buFont typeface="Arial,Sans-Serif"/>
              <a:buChar char="•"/>
            </a:pPr>
            <a:r>
              <a:rPr lang="fr-FR" dirty="0">
                <a:latin typeface="Arial"/>
                <a:cs typeface="Arial"/>
              </a:rPr>
              <a:t>Re = 3500</a:t>
            </a:r>
            <a:endParaRPr lang="en-US" dirty="0">
              <a:latin typeface="Arial"/>
              <a:cs typeface="Arial"/>
            </a:endParaRPr>
          </a:p>
          <a:p>
            <a:pPr marL="285750" indent="-285750" algn="ctr">
              <a:buFont typeface="Arial,Sans-Serif"/>
              <a:buChar char="•"/>
            </a:pPr>
            <a:r>
              <a:rPr lang="fr-FR" dirty="0">
                <a:latin typeface="Arial"/>
                <a:cs typeface="Arial"/>
              </a:rPr>
              <a:t>D = 0.2 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349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Une image contenant diagramme, ligne, Dessin technique, croquis&#10;&#10;Le contenu généré par l’IA peut être incorrect.">
            <a:extLst>
              <a:ext uri="{FF2B5EF4-FFF2-40B4-BE49-F238E27FC236}">
                <a16:creationId xmlns:a16="http://schemas.microsoft.com/office/drawing/2014/main" id="{D62B3CE7-2963-3B20-A78E-4FEB8716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3839"/>
            <a:ext cx="9144000" cy="2612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759B1EC-346E-07A9-B7AE-C6C2996A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Arial"/>
                <a:ea typeface="+mj-lt"/>
                <a:cs typeface="+mj-lt"/>
              </a:rPr>
              <a:t>CFD modelling strategy</a:t>
            </a:r>
            <a:endParaRPr lang="fr-FR" sz="4000">
              <a:latin typeface="Arial"/>
              <a:ea typeface="+mj-lt"/>
              <a:cs typeface="+mj-lt"/>
            </a:endParaRPr>
          </a:p>
        </p:txBody>
      </p:sp>
      <p:pic>
        <p:nvPicPr>
          <p:cNvPr id="5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54F9454-154C-E634-DD0B-60466C8F7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7" name="Triangle rectangle 6">
            <a:extLst>
              <a:ext uri="{FF2B5EF4-FFF2-40B4-BE49-F238E27FC236}">
                <a16:creationId xmlns:a16="http://schemas.microsoft.com/office/drawing/2014/main" id="{98408900-BAFA-E387-38D6-FD09855C8C6F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8">
            <a:extLst>
              <a:ext uri="{FF2B5EF4-FFF2-40B4-BE49-F238E27FC236}">
                <a16:creationId xmlns:a16="http://schemas.microsoft.com/office/drawing/2014/main" id="{149BF879-D434-8A82-F8BA-19C6187079E4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3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65D20361-9DFE-A65E-0831-0B20E36C6C02}"/>
              </a:ext>
            </a:extLst>
          </p:cNvPr>
          <p:cNvSpPr/>
          <p:nvPr/>
        </p:nvSpPr>
        <p:spPr>
          <a:xfrm>
            <a:off x="3692515" y="4392893"/>
            <a:ext cx="1446728" cy="834953"/>
          </a:xfrm>
          <a:prstGeom prst="rightArrow">
            <a:avLst/>
          </a:prstGeom>
          <a:solidFill>
            <a:srgbClr val="5FA4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err="1">
                <a:solidFill>
                  <a:schemeClr val="tx1"/>
                </a:solidFill>
                <a:latin typeface="Arial"/>
                <a:cs typeface="Arial"/>
              </a:rPr>
              <a:t>Ansys</a:t>
            </a:r>
            <a:r>
              <a:rPr lang="fr-FR" sz="1200">
                <a:solidFill>
                  <a:schemeClr val="tx1"/>
                </a:solidFill>
                <a:latin typeface="Arial"/>
                <a:cs typeface="Arial"/>
              </a:rPr>
              <a:t> Fluent</a:t>
            </a:r>
          </a:p>
          <a:p>
            <a:pPr algn="ctr"/>
            <a:r>
              <a:rPr lang="fr-FR" sz="1200" err="1">
                <a:solidFill>
                  <a:schemeClr val="tx1"/>
                </a:solidFill>
                <a:latin typeface="Arial"/>
                <a:cs typeface="Arial"/>
              </a:rPr>
              <a:t>implementation</a:t>
            </a:r>
            <a:endParaRPr lang="fr-FR" sz="12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E2B8C7B-75AC-1DA1-19E6-332E142FD391}"/>
              </a:ext>
            </a:extLst>
          </p:cNvPr>
          <p:cNvCxnSpPr>
            <a:cxnSpLocks/>
          </p:cNvCxnSpPr>
          <p:nvPr/>
        </p:nvCxnSpPr>
        <p:spPr>
          <a:xfrm>
            <a:off x="177208" y="4644257"/>
            <a:ext cx="9524" cy="239350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FCAC664-467C-C0E6-112B-F39754899BFE}"/>
              </a:ext>
            </a:extLst>
          </p:cNvPr>
          <p:cNvCxnSpPr>
            <a:cxnSpLocks/>
          </p:cNvCxnSpPr>
          <p:nvPr/>
        </p:nvCxnSpPr>
        <p:spPr>
          <a:xfrm flipV="1">
            <a:off x="2768008" y="3843483"/>
            <a:ext cx="5712" cy="1848524"/>
          </a:xfrm>
          <a:prstGeom prst="straightConnector1">
            <a:avLst/>
          </a:prstGeom>
          <a:ln w="571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94FE670-53CE-FF38-C0ED-20B715C0E43E}"/>
              </a:ext>
            </a:extLst>
          </p:cNvPr>
          <p:cNvCxnSpPr/>
          <p:nvPr/>
        </p:nvCxnSpPr>
        <p:spPr>
          <a:xfrm flipV="1">
            <a:off x="721787" y="3874745"/>
            <a:ext cx="1994430" cy="786593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DB451B7-E292-7EEE-ECD2-DD232680C60D}"/>
              </a:ext>
            </a:extLst>
          </p:cNvPr>
          <p:cNvCxnSpPr>
            <a:cxnSpLocks/>
          </p:cNvCxnSpPr>
          <p:nvPr/>
        </p:nvCxnSpPr>
        <p:spPr>
          <a:xfrm flipH="1" flipV="1">
            <a:off x="696916" y="4884398"/>
            <a:ext cx="2006070" cy="748490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lipse 23">
            <a:extLst>
              <a:ext uri="{FF2B5EF4-FFF2-40B4-BE49-F238E27FC236}">
                <a16:creationId xmlns:a16="http://schemas.microsoft.com/office/drawing/2014/main" id="{2B0F676E-9CCB-4B1D-7C9C-C45F8F69D3C5}"/>
              </a:ext>
            </a:extLst>
          </p:cNvPr>
          <p:cNvSpPr/>
          <p:nvPr/>
        </p:nvSpPr>
        <p:spPr>
          <a:xfrm>
            <a:off x="2283487" y="3840912"/>
            <a:ext cx="589030" cy="42774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C6A669C-C9BD-DBF9-1015-33455AAB23F2}"/>
              </a:ext>
            </a:extLst>
          </p:cNvPr>
          <p:cNvCxnSpPr>
            <a:cxnSpLocks/>
          </p:cNvCxnSpPr>
          <p:nvPr/>
        </p:nvCxnSpPr>
        <p:spPr>
          <a:xfrm flipH="1">
            <a:off x="5301656" y="5139557"/>
            <a:ext cx="9526" cy="125050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96573E0-5D8B-CAC3-0F6F-23586BACF5FB}"/>
              </a:ext>
            </a:extLst>
          </p:cNvPr>
          <p:cNvCxnSpPr>
            <a:cxnSpLocks/>
          </p:cNvCxnSpPr>
          <p:nvPr/>
        </p:nvCxnSpPr>
        <p:spPr>
          <a:xfrm>
            <a:off x="5817661" y="3946963"/>
            <a:ext cx="2699280" cy="3982"/>
          </a:xfrm>
          <a:prstGeom prst="straightConnector1">
            <a:avLst/>
          </a:prstGeom>
          <a:ln w="57150">
            <a:solidFill>
              <a:srgbClr val="1FBA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D34BB00-7138-68A7-CC6B-38DBC59E0508}"/>
              </a:ext>
            </a:extLst>
          </p:cNvPr>
          <p:cNvCxnSpPr>
            <a:cxnSpLocks/>
          </p:cNvCxnSpPr>
          <p:nvPr/>
        </p:nvCxnSpPr>
        <p:spPr>
          <a:xfrm>
            <a:off x="5322361" y="5261413"/>
            <a:ext cx="3204103" cy="3982"/>
          </a:xfrm>
          <a:prstGeom prst="straightConnector1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4163AC98-74AA-FBDB-4A92-A6BB5F51FC0C}"/>
              </a:ext>
            </a:extLst>
          </p:cNvPr>
          <p:cNvSpPr txBox="1"/>
          <p:nvPr/>
        </p:nvSpPr>
        <p:spPr>
          <a:xfrm>
            <a:off x="6401267" y="4917237"/>
            <a:ext cx="104482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err="1">
                <a:solidFill>
                  <a:srgbClr val="00B050"/>
                </a:solidFill>
                <a:latin typeface="Arial"/>
                <a:ea typeface="+mj-lt"/>
                <a:cs typeface="Arial"/>
              </a:rPr>
              <a:t>Symetry</a:t>
            </a:r>
            <a:endParaRPr lang="fr-FR" err="1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905ACDF-049C-7AA2-E473-9C24B46A9549}"/>
              </a:ext>
            </a:extLst>
          </p:cNvPr>
          <p:cNvSpPr txBox="1"/>
          <p:nvPr/>
        </p:nvSpPr>
        <p:spPr>
          <a:xfrm>
            <a:off x="6553667" y="3945686"/>
            <a:ext cx="1178178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>
                <a:solidFill>
                  <a:srgbClr val="1FBADB"/>
                </a:solidFill>
                <a:latin typeface="Arial"/>
                <a:cs typeface="Arial"/>
              </a:rPr>
              <a:t>Neumann p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EFE2805-AAFB-D6BF-32DC-6B5EE50406DA}"/>
              </a:ext>
            </a:extLst>
          </p:cNvPr>
          <p:cNvSpPr txBox="1"/>
          <p:nvPr/>
        </p:nvSpPr>
        <p:spPr>
          <a:xfrm>
            <a:off x="3943817" y="5479211"/>
            <a:ext cx="12448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>
                <a:solidFill>
                  <a:srgbClr val="1FBADB"/>
                </a:solidFill>
                <a:latin typeface="Arial"/>
                <a:cs typeface="Arial"/>
              </a:rPr>
              <a:t>Dirichlet </a:t>
            </a:r>
            <a:r>
              <a:rPr lang="fr-FR" sz="1400" err="1">
                <a:solidFill>
                  <a:srgbClr val="1FBADB"/>
                </a:solidFill>
                <a:latin typeface="Arial"/>
                <a:cs typeface="Arial"/>
              </a:rPr>
              <a:t>elliptic</a:t>
            </a:r>
            <a:r>
              <a:rPr lang="fr-FR" sz="1400">
                <a:solidFill>
                  <a:srgbClr val="1FBADB"/>
                </a:solidFill>
                <a:latin typeface="Arial"/>
                <a:cs typeface="Arial"/>
              </a:rPr>
              <a:t> U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96948FA-2058-7FB2-891C-0CCA7171CC81}"/>
              </a:ext>
            </a:extLst>
          </p:cNvPr>
          <p:cNvCxnSpPr/>
          <p:nvPr/>
        </p:nvCxnSpPr>
        <p:spPr>
          <a:xfrm flipV="1">
            <a:off x="4581525" y="5259260"/>
            <a:ext cx="653601" cy="250397"/>
          </a:xfrm>
          <a:prstGeom prst="straightConnector1">
            <a:avLst/>
          </a:prstGeom>
          <a:ln>
            <a:solidFill>
              <a:srgbClr val="1FBAD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27A4EE6-0CDE-4919-576A-D6D94EC5EFE8}"/>
              </a:ext>
            </a:extLst>
          </p:cNvPr>
          <p:cNvCxnSpPr>
            <a:cxnSpLocks/>
          </p:cNvCxnSpPr>
          <p:nvPr/>
        </p:nvCxnSpPr>
        <p:spPr>
          <a:xfrm flipV="1">
            <a:off x="8511582" y="3927296"/>
            <a:ext cx="5712" cy="1336086"/>
          </a:xfrm>
          <a:prstGeom prst="straightConnector1">
            <a:avLst/>
          </a:prstGeom>
          <a:ln w="571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1E24AF6D-28A2-A23C-3258-1C6256E3E526}"/>
              </a:ext>
            </a:extLst>
          </p:cNvPr>
          <p:cNvSpPr/>
          <p:nvPr/>
        </p:nvSpPr>
        <p:spPr>
          <a:xfrm>
            <a:off x="8055637" y="3840911"/>
            <a:ext cx="589030" cy="42774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93B16E8-A927-F4E6-4D9F-A01CAE5C8725}"/>
              </a:ext>
            </a:extLst>
          </p:cNvPr>
          <p:cNvSpPr txBox="1"/>
          <p:nvPr/>
        </p:nvSpPr>
        <p:spPr>
          <a:xfrm>
            <a:off x="7287092" y="5583986"/>
            <a:ext cx="124485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>
                <a:solidFill>
                  <a:srgbClr val="ED7D31"/>
                </a:solidFill>
                <a:latin typeface="Arial"/>
                <a:cs typeface="Arial"/>
              </a:rPr>
              <a:t>Dirichlet p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F03A88D-9FD1-B969-EAED-52127F997A3B}"/>
              </a:ext>
            </a:extLst>
          </p:cNvPr>
          <p:cNvCxnSpPr>
            <a:cxnSpLocks/>
          </p:cNvCxnSpPr>
          <p:nvPr/>
        </p:nvCxnSpPr>
        <p:spPr>
          <a:xfrm flipV="1">
            <a:off x="7877174" y="4649659"/>
            <a:ext cx="548826" cy="964772"/>
          </a:xfrm>
          <a:prstGeom prst="straightConnector1">
            <a:avLst/>
          </a:prstGeom>
          <a:ln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2BD0653F-56DB-7C82-90DD-191BAB73F76E}"/>
              </a:ext>
            </a:extLst>
          </p:cNvPr>
          <p:cNvSpPr txBox="1"/>
          <p:nvPr/>
        </p:nvSpPr>
        <p:spPr>
          <a:xfrm>
            <a:off x="2666099" y="1713591"/>
            <a:ext cx="3809492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D62728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2D RANS CFD Model</a:t>
            </a:r>
            <a:endParaRPr lang="fr-FR" dirty="0"/>
          </a:p>
          <a:p>
            <a:pPr algn="ctr"/>
            <a:endParaRPr lang="fr-FR" dirty="0">
              <a:latin typeface="Arial"/>
              <a:cs typeface="Arial"/>
            </a:endParaRPr>
          </a:p>
          <a:p>
            <a:pPr marL="285750" indent="-285750" algn="ctr">
              <a:buFont typeface="Arial,Sans-Serif"/>
              <a:buChar char="•"/>
            </a:pPr>
            <a:r>
              <a:rPr lang="fr-FR" dirty="0">
                <a:latin typeface="Aptos"/>
                <a:cs typeface="Arial"/>
              </a:rPr>
              <a:t>Domain and </a:t>
            </a:r>
            <a:r>
              <a:rPr lang="fr-FR" err="1">
                <a:latin typeface="Aptos"/>
                <a:cs typeface="Arial"/>
              </a:rPr>
              <a:t>boundary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readapted</a:t>
            </a:r>
            <a:endParaRPr lang="fr-FR">
              <a:latin typeface="Aptos"/>
              <a:cs typeface="Arial"/>
            </a:endParaRPr>
          </a:p>
          <a:p>
            <a:pPr marL="285750" indent="-285750" algn="ctr">
              <a:buFont typeface="Arial,Sans-Serif"/>
              <a:buChar char="•"/>
            </a:pPr>
            <a:r>
              <a:rPr lang="fr-FR" err="1">
                <a:latin typeface="Aptos"/>
                <a:cs typeface="Arial"/>
              </a:rPr>
              <a:t>Multibloc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structured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mesh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with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quadrilateral</a:t>
            </a:r>
            <a:r>
              <a:rPr lang="fr-FR" dirty="0">
                <a:latin typeface="Aptos"/>
                <a:cs typeface="Arial"/>
              </a:rPr>
              <a:t> </a:t>
            </a:r>
            <a:r>
              <a:rPr lang="fr-FR" err="1">
                <a:latin typeface="Aptos"/>
                <a:cs typeface="Arial"/>
              </a:rPr>
              <a:t>elements</a:t>
            </a:r>
            <a:endParaRPr lang="fr-FR">
              <a:latin typeface="Aptos"/>
              <a:cs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E8FF51-C104-2B0F-AD55-CF4A7C583064}"/>
              </a:ext>
            </a:extLst>
          </p:cNvPr>
          <p:cNvSpPr txBox="1"/>
          <p:nvPr/>
        </p:nvSpPr>
        <p:spPr>
          <a:xfrm>
            <a:off x="1238074" y="3567083"/>
            <a:ext cx="11570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solidFill>
                  <a:srgbClr val="C00000"/>
                </a:solidFill>
              </a:rPr>
              <a:t>Critical </a:t>
            </a:r>
            <a:r>
              <a:rPr lang="fr-FR" sz="1400" err="1">
                <a:solidFill>
                  <a:srgbClr val="C00000"/>
                </a:solidFill>
              </a:rPr>
              <a:t>backflow</a:t>
            </a:r>
            <a:endParaRPr lang="fr-FR" sz="1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582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C8964128-DA25-6C3A-77D4-862F42CA1970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13DA13-0667-4173-1ABF-187952CE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4000">
                <a:latin typeface="Arial"/>
                <a:cs typeface="Arial"/>
              </a:rPr>
              <a:t>Convergence </a:t>
            </a:r>
            <a:r>
              <a:rPr lang="fr-BE" sz="4000" dirty="0">
                <a:latin typeface="Arial"/>
                <a:cs typeface="Arial"/>
              </a:rPr>
              <a:t>/ </a:t>
            </a:r>
            <a:r>
              <a:rPr lang="fr-BE" sz="4000" dirty="0" err="1">
                <a:latin typeface="Arial"/>
                <a:cs typeface="Arial"/>
              </a:rPr>
              <a:t>Verification</a:t>
            </a:r>
            <a:r>
              <a:rPr lang="fr-BE" sz="4000" dirty="0">
                <a:latin typeface="Arial"/>
                <a:cs typeface="Arial"/>
              </a:rPr>
              <a:t> process</a:t>
            </a:r>
          </a:p>
        </p:txBody>
      </p:sp>
      <p:pic>
        <p:nvPicPr>
          <p:cNvPr id="5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5013121-F114-F543-D6DD-BD12FB5D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6" name="Espace réservé du numéro de diapositive 8">
            <a:extLst>
              <a:ext uri="{FF2B5EF4-FFF2-40B4-BE49-F238E27FC236}">
                <a16:creationId xmlns:a16="http://schemas.microsoft.com/office/drawing/2014/main" id="{EB033E83-7558-E30B-0789-B1EA2B385F8C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4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2AD8615-78DF-6FDE-C821-64668F7B7BE5}"/>
              </a:ext>
            </a:extLst>
          </p:cNvPr>
          <p:cNvSpPr txBox="1"/>
          <p:nvPr/>
        </p:nvSpPr>
        <p:spPr>
          <a:xfrm>
            <a:off x="1577672" y="1658023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b="1" u="sng" dirty="0">
                <a:latin typeface="Arial"/>
                <a:cs typeface="Arial"/>
              </a:rPr>
              <a:t>k-ϵ</a:t>
            </a:r>
            <a:r>
              <a:rPr lang="fr-FR" dirty="0">
                <a:latin typeface="Arial"/>
                <a:cs typeface="Arial"/>
              </a:rPr>
              <a:t> and k-ω RANS models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B153C18-00CF-A331-1B37-CBE020E11623}"/>
              </a:ext>
            </a:extLst>
          </p:cNvPr>
          <p:cNvCxnSpPr/>
          <p:nvPr/>
        </p:nvCxnSpPr>
        <p:spPr>
          <a:xfrm>
            <a:off x="2794322" y="2300598"/>
            <a:ext cx="0" cy="45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944F64D-9745-ED0D-9B46-3ABDEB0703A1}"/>
              </a:ext>
            </a:extLst>
          </p:cNvPr>
          <p:cNvSpPr txBox="1"/>
          <p:nvPr/>
        </p:nvSpPr>
        <p:spPr>
          <a:xfrm>
            <a:off x="1577672" y="2758338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1 - </a:t>
            </a:r>
            <a:r>
              <a:rPr lang="fr-FR" b="1" dirty="0" err="1">
                <a:latin typeface="Arial"/>
                <a:cs typeface="Arial"/>
              </a:rPr>
              <a:t>Residuals</a:t>
            </a:r>
            <a:r>
              <a:rPr lang="fr-FR" b="1" dirty="0">
                <a:latin typeface="Arial"/>
                <a:cs typeface="Arial"/>
              </a:rPr>
              <a:t> Convergence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E92C94C-4B78-7FBC-053D-5EF0C66C6BEC}"/>
              </a:ext>
            </a:extLst>
          </p:cNvPr>
          <p:cNvSpPr txBox="1"/>
          <p:nvPr/>
        </p:nvSpPr>
        <p:spPr>
          <a:xfrm>
            <a:off x="1577672" y="4977939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3 - </a:t>
            </a:r>
            <a:r>
              <a:rPr lang="fr-FR" b="1" err="1">
                <a:latin typeface="Arial"/>
                <a:cs typeface="Arial"/>
              </a:rPr>
              <a:t>Grid</a:t>
            </a:r>
            <a:r>
              <a:rPr lang="fr-FR" b="1" dirty="0">
                <a:latin typeface="Arial"/>
                <a:cs typeface="Arial"/>
              </a:rPr>
              <a:t> size convergence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B416115-8C7A-BF4A-7CF7-E18BAA2CA99E}"/>
              </a:ext>
            </a:extLst>
          </p:cNvPr>
          <p:cNvSpPr txBox="1"/>
          <p:nvPr/>
        </p:nvSpPr>
        <p:spPr>
          <a:xfrm>
            <a:off x="1511275" y="6078256"/>
            <a:ext cx="2556298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>
                <a:latin typeface="Arial"/>
                <a:cs typeface="Arial"/>
              </a:rPr>
              <a:t>4 - </a:t>
            </a:r>
            <a:r>
              <a:rPr lang="fr-FR" b="1" err="1">
                <a:latin typeface="Arial"/>
                <a:cs typeface="Arial"/>
              </a:rPr>
              <a:t>Boundary</a:t>
            </a:r>
            <a:r>
              <a:rPr lang="fr-FR" b="1" dirty="0">
                <a:latin typeface="Arial"/>
                <a:cs typeface="Arial"/>
              </a:rPr>
              <a:t> turbulence </a:t>
            </a:r>
            <a:r>
              <a:rPr lang="fr-FR" b="1" err="1">
                <a:latin typeface="Arial"/>
                <a:cs typeface="Arial"/>
              </a:rPr>
              <a:t>sensitivity</a:t>
            </a:r>
            <a:endParaRPr lang="fr-FR" b="1">
              <a:latin typeface="Arial"/>
              <a:cs typeface="Arial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013E039-0429-A484-EF5F-F6D24133A774}"/>
              </a:ext>
            </a:extLst>
          </p:cNvPr>
          <p:cNvSpPr txBox="1"/>
          <p:nvPr/>
        </p:nvSpPr>
        <p:spPr>
          <a:xfrm>
            <a:off x="4920724" y="5108931"/>
            <a:ext cx="24190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5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dirty="0">
                <a:ea typeface="+mn-lt"/>
                <a:cs typeface="+mn-lt"/>
              </a:rPr>
              <a:t>≈ 99k cells</a:t>
            </a:r>
            <a:endParaRPr lang="fr-FR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2B1F7BD-C626-403E-D482-4831033CBED9}"/>
              </a:ext>
            </a:extLst>
          </p:cNvPr>
          <p:cNvCxnSpPr>
            <a:cxnSpLocks/>
          </p:cNvCxnSpPr>
          <p:nvPr/>
        </p:nvCxnSpPr>
        <p:spPr>
          <a:xfrm>
            <a:off x="2794322" y="3400913"/>
            <a:ext cx="0" cy="45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E4A3DCF8-72B3-013A-04BB-660A4D1D1D22}"/>
              </a:ext>
            </a:extLst>
          </p:cNvPr>
          <p:cNvCxnSpPr>
            <a:cxnSpLocks/>
          </p:cNvCxnSpPr>
          <p:nvPr/>
        </p:nvCxnSpPr>
        <p:spPr>
          <a:xfrm>
            <a:off x="2794322" y="4510714"/>
            <a:ext cx="0" cy="45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1323F79-CD04-5A4A-1CEC-A62E3102E06F}"/>
              </a:ext>
            </a:extLst>
          </p:cNvPr>
          <p:cNvCxnSpPr>
            <a:cxnSpLocks/>
          </p:cNvCxnSpPr>
          <p:nvPr/>
        </p:nvCxnSpPr>
        <p:spPr>
          <a:xfrm>
            <a:off x="2784837" y="5620514"/>
            <a:ext cx="0" cy="45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D9ED4BA-FE81-0B33-313E-A434DEB55F1F}"/>
              </a:ext>
            </a:extLst>
          </p:cNvPr>
          <p:cNvSpPr txBox="1"/>
          <p:nvPr/>
        </p:nvSpPr>
        <p:spPr>
          <a:xfrm>
            <a:off x="4920724" y="4010503"/>
            <a:ext cx="24190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5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 2.25 </a:t>
            </a:r>
            <a:r>
              <a:rPr lang="en-GB" dirty="0" err="1">
                <a:latin typeface="Arial"/>
                <a:cs typeface="Arial"/>
              </a:rPr>
              <a:t>Scalling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71E5A32-FD61-7A27-41DE-8A6CF121DDB3}"/>
              </a:ext>
            </a:extLst>
          </p:cNvPr>
          <p:cNvSpPr txBox="1"/>
          <p:nvPr/>
        </p:nvSpPr>
        <p:spPr>
          <a:xfrm>
            <a:off x="1577672" y="3868138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2 - </a:t>
            </a:r>
            <a:r>
              <a:rPr lang="en-GB" b="1" dirty="0">
                <a:latin typeface="Arial"/>
                <a:cs typeface="Arial"/>
              </a:rPr>
              <a:t>Domain size </a:t>
            </a:r>
          </a:p>
          <a:p>
            <a:pPr algn="ctr"/>
            <a:r>
              <a:rPr lang="en-GB" b="1" dirty="0">
                <a:latin typeface="Arial"/>
                <a:cs typeface="Arial"/>
              </a:rPr>
              <a:t>convergence</a:t>
            </a:r>
            <a:endParaRPr lang="en-GB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D31F4C8-2D04-77D2-DC50-B33B7D80CFC9}"/>
                  </a:ext>
                </a:extLst>
              </p:cNvPr>
              <p:cNvSpPr txBox="1"/>
              <p:nvPr/>
            </p:nvSpPr>
            <p:spPr>
              <a:xfrm>
                <a:off x="4920724" y="2889329"/>
                <a:ext cx="241902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solidFill>
                  <a:srgbClr val="00B050"/>
                </a:solidFill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GB" dirty="0">
                    <a:ea typeface="+mn-lt"/>
                    <a:cs typeface="+mn-lt"/>
                  </a:rPr>
                  <a:t> Tolerance</a:t>
                </a:r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D31F4C8-2D04-77D2-DC50-B33B7D80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724" y="2889329"/>
                <a:ext cx="2419025" cy="369332"/>
              </a:xfrm>
              <a:prstGeom prst="rect">
                <a:avLst/>
              </a:prstGeom>
              <a:blipFill>
                <a:blip r:embed="rId3"/>
                <a:stretch>
                  <a:fillRect t="-6061" b="-18182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24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que 35">
            <a:extLst>
              <a:ext uri="{FF2B5EF4-FFF2-40B4-BE49-F238E27FC236}">
                <a16:creationId xmlns:a16="http://schemas.microsoft.com/office/drawing/2014/main" id="{634AAC45-7C1F-685D-FFF4-319CD55C2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5482" y="2278812"/>
            <a:ext cx="4654192" cy="3420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15018B9-4BB7-0EA7-C1DE-B72A6EEA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8490"/>
            <a:ext cx="7886700" cy="838833"/>
          </a:xfrm>
        </p:spPr>
        <p:txBody>
          <a:bodyPr>
            <a:normAutofit/>
          </a:bodyPr>
          <a:lstStyle/>
          <a:p>
            <a:r>
              <a:rPr lang="en-GB" sz="4000">
                <a:latin typeface="Arial" panose="020B0604020202020204" pitchFamily="34" charset="0"/>
                <a:cs typeface="Arial" panose="020B0604020202020204" pitchFamily="34" charset="0"/>
              </a:rPr>
              <a:t>Results : Self-Similarity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0C26D8-53DB-DF55-F19B-293AEC8F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5</a:t>
            </a:fld>
            <a:endParaRPr lang="en-US"/>
          </a:p>
        </p:txBody>
      </p:sp>
      <p:pic>
        <p:nvPicPr>
          <p:cNvPr id="19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DCCA2F5-76CE-D883-619A-E1BF56E6E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20" name="Triangle rectangle 19">
            <a:extLst>
              <a:ext uri="{FF2B5EF4-FFF2-40B4-BE49-F238E27FC236}">
                <a16:creationId xmlns:a16="http://schemas.microsoft.com/office/drawing/2014/main" id="{F9DABE55-BF27-39E3-C7C8-A114A3E4367A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space réservé du numéro de diapositive 8">
            <a:extLst>
              <a:ext uri="{FF2B5EF4-FFF2-40B4-BE49-F238E27FC236}">
                <a16:creationId xmlns:a16="http://schemas.microsoft.com/office/drawing/2014/main" id="{B6740CB2-7D6A-5AE8-D723-DFE34CF07372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5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FF9A5F33-A446-09BC-8051-FA7A1B1D4F85}"/>
                  </a:ext>
                </a:extLst>
              </p:cNvPr>
              <p:cNvSpPr txBox="1"/>
              <p:nvPr/>
            </p:nvSpPr>
            <p:spPr>
              <a:xfrm>
                <a:off x="286512" y="1962912"/>
                <a:ext cx="3803904" cy="1200329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lit/>
                      </m:rPr>
                      <a:rPr lang="en-GB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≥25 </m:t>
                    </m:r>
                  </m:oMath>
                </a14:m>
                <a:r>
                  <a:rPr lang="en-GB"/>
                  <a:t>: all normalized quantities collapse on one curve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fr-BE" b="0"/>
              </a:p>
              <a:p>
                <a:pPr algn="ctr"/>
                <a:r>
                  <a:rPr lang="en-GB"/>
                  <a:t>Only functions of </a:t>
                </a:r>
                <a14:m>
                  <m:oMath xmlns:m="http://schemas.openxmlformats.org/officeDocument/2006/math">
                    <m:r>
                      <a:rPr lang="fr-BE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fr-BE" b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FF9A5F33-A446-09BC-8051-FA7A1B1D4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12" y="1962912"/>
                <a:ext cx="3803904" cy="1200329"/>
              </a:xfrm>
              <a:prstGeom prst="rect">
                <a:avLst/>
              </a:prstGeom>
              <a:blipFill>
                <a:blip r:embed="rId5"/>
                <a:stretch>
                  <a:fillRect t="-2000" b="-6000"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>
            <a:extLst>
              <a:ext uri="{FF2B5EF4-FFF2-40B4-BE49-F238E27FC236}">
                <a16:creationId xmlns:a16="http://schemas.microsoft.com/office/drawing/2014/main" id="{BA831E20-A8B1-8AE0-5833-72D80E4823A3}"/>
              </a:ext>
            </a:extLst>
          </p:cNvPr>
          <p:cNvSpPr txBox="1"/>
          <p:nvPr/>
        </p:nvSpPr>
        <p:spPr>
          <a:xfrm>
            <a:off x="225413" y="4192758"/>
            <a:ext cx="3803904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Self-similarity captured by RANS models</a:t>
            </a:r>
          </a:p>
        </p:txBody>
      </p:sp>
    </p:spTree>
    <p:extLst>
      <p:ext uri="{BB962C8B-B14F-4D97-AF65-F5344CB8AC3E}">
        <p14:creationId xmlns:p14="http://schemas.microsoft.com/office/powerpoint/2010/main" val="336328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F1D0-3752-EA18-12D3-A47939EF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que 27">
            <a:extLst>
              <a:ext uri="{FF2B5EF4-FFF2-40B4-BE49-F238E27FC236}">
                <a16:creationId xmlns:a16="http://schemas.microsoft.com/office/drawing/2014/main" id="{E61A4652-8A2B-5B89-44FD-357513BC6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491" y="2184007"/>
            <a:ext cx="4392087" cy="3240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127D0C7-3EF5-8CF3-3B36-93C8FE4D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8490"/>
            <a:ext cx="7886700" cy="838833"/>
          </a:xfrm>
        </p:spPr>
        <p:txBody>
          <a:bodyPr>
            <a:normAutofit/>
          </a:bodyPr>
          <a:lstStyle/>
          <a:p>
            <a:r>
              <a:rPr lang="en-GB" sz="4000">
                <a:latin typeface="Arial" panose="020B0604020202020204" pitchFamily="34" charset="0"/>
                <a:cs typeface="Arial" panose="020B0604020202020204" pitchFamily="34" charset="0"/>
              </a:rPr>
              <a:t>Results : The Round Jet Anomaly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85B9E4-D8FE-EFD5-C887-AA33005E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6</a:t>
            </a:fld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323648-3C5C-0A6F-60CC-BEC7C0CCA4B2}"/>
              </a:ext>
            </a:extLst>
          </p:cNvPr>
          <p:cNvSpPr txBox="1"/>
          <p:nvPr/>
        </p:nvSpPr>
        <p:spPr>
          <a:xfrm>
            <a:off x="628650" y="1242060"/>
            <a:ext cx="82181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Arial" panose="020B0604020202020204" pitchFamily="34" charset="0"/>
                <a:cs typeface="Arial" panose="020B0604020202020204" pitchFamily="34" charset="0"/>
              </a:rPr>
              <a:t>How it fails : Spreading Rate and Velocity Decay</a:t>
            </a:r>
            <a:endParaRPr lang="en-GB"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676761-410A-0470-2C64-4B2DBB071F9B}"/>
              </a:ext>
            </a:extLst>
          </p:cNvPr>
          <p:cNvSpPr txBox="1"/>
          <p:nvPr/>
        </p:nvSpPr>
        <p:spPr>
          <a:xfrm>
            <a:off x="7230073" y="3901837"/>
            <a:ext cx="704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1/5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495DFDB-CF82-76BB-1D40-2D205855A5E1}"/>
              </a:ext>
            </a:extLst>
          </p:cNvPr>
          <p:cNvSpPr txBox="1"/>
          <p:nvPr/>
        </p:nvSpPr>
        <p:spPr>
          <a:xfrm>
            <a:off x="7232904" y="3555060"/>
            <a:ext cx="820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1F77B4"/>
                </a:solidFill>
              </a:rPr>
              <a:t>1/4.1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0019D6-50B6-D7CD-60AB-F7D9C8CE5066}"/>
              </a:ext>
            </a:extLst>
          </p:cNvPr>
          <p:cNvSpPr txBox="1"/>
          <p:nvPr/>
        </p:nvSpPr>
        <p:spPr>
          <a:xfrm>
            <a:off x="7470049" y="3043118"/>
            <a:ext cx="621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D62728"/>
                </a:solidFill>
              </a:rPr>
              <a:t>1/3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ACF35C4-B2C1-ED2C-8871-763611CF6EE6}"/>
              </a:ext>
            </a:extLst>
          </p:cNvPr>
          <p:cNvCxnSpPr>
            <a:cxnSpLocks/>
          </p:cNvCxnSpPr>
          <p:nvPr/>
        </p:nvCxnSpPr>
        <p:spPr>
          <a:xfrm>
            <a:off x="7515921" y="3116529"/>
            <a:ext cx="0" cy="289560"/>
          </a:xfrm>
          <a:prstGeom prst="line">
            <a:avLst/>
          </a:prstGeom>
          <a:ln w="28575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93749FB-AED1-85D4-4E07-7368F2E3ABCF}"/>
              </a:ext>
            </a:extLst>
          </p:cNvPr>
          <p:cNvCxnSpPr>
            <a:cxnSpLocks/>
          </p:cNvCxnSpPr>
          <p:nvPr/>
        </p:nvCxnSpPr>
        <p:spPr>
          <a:xfrm>
            <a:off x="7298287" y="3645914"/>
            <a:ext cx="0" cy="270428"/>
          </a:xfrm>
          <a:prstGeom prst="line">
            <a:avLst/>
          </a:prstGeom>
          <a:ln w="28575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01D88F9-43BD-311E-E5BE-53472BC47084}"/>
              </a:ext>
            </a:extLst>
          </p:cNvPr>
          <p:cNvCxnSpPr>
            <a:cxnSpLocks/>
          </p:cNvCxnSpPr>
          <p:nvPr/>
        </p:nvCxnSpPr>
        <p:spPr>
          <a:xfrm>
            <a:off x="7298287" y="3975792"/>
            <a:ext cx="0" cy="230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7AE6E8D-0E59-663F-CD29-0C1EB8BC390B}"/>
              </a:ext>
            </a:extLst>
          </p:cNvPr>
          <p:cNvCxnSpPr>
            <a:cxnSpLocks/>
          </p:cNvCxnSpPr>
          <p:nvPr/>
        </p:nvCxnSpPr>
        <p:spPr>
          <a:xfrm>
            <a:off x="7211859" y="3406089"/>
            <a:ext cx="309948" cy="0"/>
          </a:xfrm>
          <a:prstGeom prst="line">
            <a:avLst/>
          </a:prstGeom>
          <a:ln w="28575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F9283D7-93D7-916B-DC18-24E718C66745}"/>
              </a:ext>
            </a:extLst>
          </p:cNvPr>
          <p:cNvCxnSpPr>
            <a:cxnSpLocks/>
          </p:cNvCxnSpPr>
          <p:nvPr/>
        </p:nvCxnSpPr>
        <p:spPr>
          <a:xfrm>
            <a:off x="6928485" y="3901837"/>
            <a:ext cx="369802" cy="0"/>
          </a:xfrm>
          <a:prstGeom prst="line">
            <a:avLst/>
          </a:prstGeom>
          <a:ln w="28575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9EA1E24-1F7E-FCD5-3AC9-B620AFD68F5F}"/>
              </a:ext>
            </a:extLst>
          </p:cNvPr>
          <p:cNvCxnSpPr>
            <a:cxnSpLocks/>
          </p:cNvCxnSpPr>
          <p:nvPr/>
        </p:nvCxnSpPr>
        <p:spPr>
          <a:xfrm>
            <a:off x="6928485" y="4189979"/>
            <a:ext cx="3698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38CFD0A-F1D0-FE45-265A-0F1BB887C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20" name="Triangle rectangle 19">
            <a:extLst>
              <a:ext uri="{FF2B5EF4-FFF2-40B4-BE49-F238E27FC236}">
                <a16:creationId xmlns:a16="http://schemas.microsoft.com/office/drawing/2014/main" id="{5C592F8B-F617-3617-F8CD-8D977C9A40C5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space réservé du numéro de diapositive 8">
            <a:extLst>
              <a:ext uri="{FF2B5EF4-FFF2-40B4-BE49-F238E27FC236}">
                <a16:creationId xmlns:a16="http://schemas.microsoft.com/office/drawing/2014/main" id="{36EA26F4-87F7-7049-FC7B-E91B85905E89}"/>
              </a:ext>
            </a:extLst>
          </p:cNvPr>
          <p:cNvSpPr txBox="1">
            <a:spLocks/>
          </p:cNvSpPr>
          <p:nvPr/>
        </p:nvSpPr>
        <p:spPr>
          <a:xfrm>
            <a:off x="8648699" y="6394451"/>
            <a:ext cx="3619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6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6" name="Graphique 25">
            <a:extLst>
              <a:ext uri="{FF2B5EF4-FFF2-40B4-BE49-F238E27FC236}">
                <a16:creationId xmlns:a16="http://schemas.microsoft.com/office/drawing/2014/main" id="{6A66EF60-120B-DEB1-9BD9-9C922F953B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0729" y="2273614"/>
            <a:ext cx="4360632" cy="3240000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41C858C8-7813-4B9B-7FBB-19690479B752}"/>
              </a:ext>
            </a:extLst>
          </p:cNvPr>
          <p:cNvCxnSpPr>
            <a:cxnSpLocks/>
          </p:cNvCxnSpPr>
          <p:nvPr/>
        </p:nvCxnSpPr>
        <p:spPr>
          <a:xfrm>
            <a:off x="2076047" y="4285672"/>
            <a:ext cx="0" cy="2304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FAC15C8D-D107-3E16-9981-C8024CB961AD}"/>
              </a:ext>
            </a:extLst>
          </p:cNvPr>
          <p:cNvCxnSpPr>
            <a:cxnSpLocks/>
          </p:cNvCxnSpPr>
          <p:nvPr/>
        </p:nvCxnSpPr>
        <p:spPr>
          <a:xfrm>
            <a:off x="1706245" y="4499859"/>
            <a:ext cx="3698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AC1E393F-2CB6-70FD-76AF-AB5A4AA7B2F7}"/>
              </a:ext>
            </a:extLst>
          </p:cNvPr>
          <p:cNvCxnSpPr>
            <a:cxnSpLocks/>
          </p:cNvCxnSpPr>
          <p:nvPr/>
        </p:nvCxnSpPr>
        <p:spPr>
          <a:xfrm>
            <a:off x="2118073" y="3840480"/>
            <a:ext cx="0" cy="309882"/>
          </a:xfrm>
          <a:prstGeom prst="line">
            <a:avLst/>
          </a:prstGeom>
          <a:ln w="28575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F48226EE-2337-A0AB-7B71-D6C3A33F46F3}"/>
              </a:ext>
            </a:extLst>
          </p:cNvPr>
          <p:cNvCxnSpPr>
            <a:cxnSpLocks/>
          </p:cNvCxnSpPr>
          <p:nvPr/>
        </p:nvCxnSpPr>
        <p:spPr>
          <a:xfrm>
            <a:off x="1748271" y="4134099"/>
            <a:ext cx="369802" cy="0"/>
          </a:xfrm>
          <a:prstGeom prst="line">
            <a:avLst/>
          </a:prstGeom>
          <a:ln w="28575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C8F2270-6ADF-D789-D0F5-E34A6E4C25F7}"/>
              </a:ext>
            </a:extLst>
          </p:cNvPr>
          <p:cNvCxnSpPr>
            <a:cxnSpLocks/>
          </p:cNvCxnSpPr>
          <p:nvPr/>
        </p:nvCxnSpPr>
        <p:spPr>
          <a:xfrm>
            <a:off x="1279873" y="4081254"/>
            <a:ext cx="0" cy="309882"/>
          </a:xfrm>
          <a:prstGeom prst="line">
            <a:avLst/>
          </a:prstGeom>
          <a:ln w="28575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2EECBC7C-1B79-C847-B82B-CC19B8826FB4}"/>
              </a:ext>
            </a:extLst>
          </p:cNvPr>
          <p:cNvCxnSpPr>
            <a:cxnSpLocks/>
          </p:cNvCxnSpPr>
          <p:nvPr/>
        </p:nvCxnSpPr>
        <p:spPr>
          <a:xfrm>
            <a:off x="1279873" y="4095759"/>
            <a:ext cx="369802" cy="0"/>
          </a:xfrm>
          <a:prstGeom prst="line">
            <a:avLst/>
          </a:prstGeom>
          <a:ln w="28575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574B8CA1-1241-FDE9-4622-FF439C708D4D}"/>
              </a:ext>
            </a:extLst>
          </p:cNvPr>
          <p:cNvSpPr txBox="1"/>
          <p:nvPr/>
        </p:nvSpPr>
        <p:spPr>
          <a:xfrm>
            <a:off x="2076047" y="4236195"/>
            <a:ext cx="975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0.089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41D0A66-059A-E69C-6271-56A5F027EB28}"/>
              </a:ext>
            </a:extLst>
          </p:cNvPr>
          <p:cNvSpPr txBox="1"/>
          <p:nvPr/>
        </p:nvSpPr>
        <p:spPr>
          <a:xfrm>
            <a:off x="2076047" y="3732560"/>
            <a:ext cx="975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C00000"/>
                </a:solidFill>
              </a:rPr>
              <a:t>0.123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BC8F932-15C4-3043-4BA0-0435D691EAA9}"/>
              </a:ext>
            </a:extLst>
          </p:cNvPr>
          <p:cNvSpPr txBox="1"/>
          <p:nvPr/>
        </p:nvSpPr>
        <p:spPr>
          <a:xfrm>
            <a:off x="654746" y="4078221"/>
            <a:ext cx="975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1F77B4"/>
                </a:solidFill>
              </a:rPr>
              <a:t>0.117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4EE7702E-6C35-4893-ECA6-BC846463E273}"/>
              </a:ext>
            </a:extLst>
          </p:cNvPr>
          <p:cNvSpPr txBox="1"/>
          <p:nvPr/>
        </p:nvSpPr>
        <p:spPr>
          <a:xfrm>
            <a:off x="456299" y="5552166"/>
            <a:ext cx="3809492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D627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Spreading rate overestimated by 30 - 40 %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98666F6-AF22-FDCF-2D19-20D766D2B9E7}"/>
              </a:ext>
            </a:extLst>
          </p:cNvPr>
          <p:cNvSpPr txBox="1"/>
          <p:nvPr/>
        </p:nvSpPr>
        <p:spPr>
          <a:xfrm>
            <a:off x="5101398" y="5552166"/>
            <a:ext cx="365417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D627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Decay constant underestimated by 20 - 40 %</a:t>
            </a:r>
          </a:p>
        </p:txBody>
      </p:sp>
    </p:spTree>
    <p:extLst>
      <p:ext uri="{BB962C8B-B14F-4D97-AF65-F5344CB8AC3E}">
        <p14:creationId xmlns:p14="http://schemas.microsoft.com/office/powerpoint/2010/main" val="10523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que 18">
            <a:extLst>
              <a:ext uri="{FF2B5EF4-FFF2-40B4-BE49-F238E27FC236}">
                <a16:creationId xmlns:a16="http://schemas.microsoft.com/office/drawing/2014/main" id="{9438E969-9D4C-2703-2D6F-1338A9B2B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8817" y="2245427"/>
            <a:ext cx="4897573" cy="36000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EECB5A-67A8-FAAF-7F7F-3F7AE263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7</a:t>
            </a:fld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97AA86E-896E-1EAB-5053-A279C816AD32}"/>
              </a:ext>
            </a:extLst>
          </p:cNvPr>
          <p:cNvSpPr txBox="1">
            <a:spLocks/>
          </p:cNvSpPr>
          <p:nvPr/>
        </p:nvSpPr>
        <p:spPr>
          <a:xfrm>
            <a:off x="628650" y="608490"/>
            <a:ext cx="7886700" cy="838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The Mechanism of the Anomaly</a:t>
            </a:r>
            <a:endParaRPr lang="en-GB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FC7C65-3B4C-C91A-0949-5A8CDE242075}"/>
              </a:ext>
            </a:extLst>
          </p:cNvPr>
          <p:cNvSpPr txBox="1"/>
          <p:nvPr/>
        </p:nvSpPr>
        <p:spPr>
          <a:xfrm>
            <a:off x="628650" y="1242060"/>
            <a:ext cx="70446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Arial" panose="020B0604020202020204" pitchFamily="34" charset="0"/>
                <a:cs typeface="Arial" panose="020B0604020202020204" pitchFamily="34" charset="0"/>
              </a:rPr>
              <a:t>Reynolds Shear Stress and Eddy Viscosity</a:t>
            </a:r>
            <a:endParaRPr lang="en-GB"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1EF7045-96DF-D8BB-73C1-9D96001A3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27A67C41-6971-4384-AF91-151B8255024B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8">
            <a:extLst>
              <a:ext uri="{FF2B5EF4-FFF2-40B4-BE49-F238E27FC236}">
                <a16:creationId xmlns:a16="http://schemas.microsoft.com/office/drawing/2014/main" id="{DD382314-700D-2E13-0E6F-055E52863C03}"/>
              </a:ext>
            </a:extLst>
          </p:cNvPr>
          <p:cNvSpPr txBox="1">
            <a:spLocks/>
          </p:cNvSpPr>
          <p:nvPr/>
        </p:nvSpPr>
        <p:spPr>
          <a:xfrm>
            <a:off x="8515351" y="6394451"/>
            <a:ext cx="4952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7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A003AC1-F302-2614-EBB4-686AA22CCC3B}"/>
              </a:ext>
            </a:extLst>
          </p:cNvPr>
          <p:cNvSpPr txBox="1"/>
          <p:nvPr/>
        </p:nvSpPr>
        <p:spPr>
          <a:xfrm>
            <a:off x="641049" y="3337182"/>
            <a:ext cx="3046061" cy="92333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Reynolds shear stress drives mixing with ambient fluid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E52E62A1-D3CB-9A66-53A5-AB5BB24CED99}"/>
                  </a:ext>
                </a:extLst>
              </p:cNvPr>
              <p:cNvSpPr txBox="1"/>
              <p:nvPr/>
            </p:nvSpPr>
            <p:spPr>
              <a:xfrm>
                <a:off x="737616" y="2272600"/>
                <a:ext cx="2852928" cy="419730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fr-B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fr-B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B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bar>
                  </m:oMath>
                </a14:m>
                <a:r>
                  <a:rPr lang="en-GB"/>
                  <a:t> overestimated </a:t>
                </a:r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E52E62A1-D3CB-9A66-53A5-AB5BB24CE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16" y="2272600"/>
                <a:ext cx="2852928" cy="419730"/>
              </a:xfrm>
              <a:prstGeom prst="rect">
                <a:avLst/>
              </a:prstGeom>
              <a:blipFill>
                <a:blip r:embed="rId5"/>
                <a:stretch>
                  <a:fillRect b="-19444"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66CE3958-216D-8E6C-ACAE-3189701F3128}"/>
              </a:ext>
            </a:extLst>
          </p:cNvPr>
          <p:cNvSpPr txBox="1"/>
          <p:nvPr/>
        </p:nvSpPr>
        <p:spPr>
          <a:xfrm>
            <a:off x="737616" y="4827315"/>
            <a:ext cx="2852928" cy="1200329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Excessive mixing </a:t>
            </a:r>
          </a:p>
          <a:p>
            <a:pPr algn="ctr"/>
            <a:r>
              <a:rPr lang="en-GB" dirty="0">
                <a:latin typeface="Arial"/>
                <a:cs typeface="Arial"/>
              </a:rPr>
              <a:t>=</a:t>
            </a:r>
          </a:p>
          <a:p>
            <a:pPr algn="ctr"/>
            <a:r>
              <a:rPr lang="en-GB" dirty="0">
                <a:latin typeface="Arial"/>
                <a:cs typeface="Arial"/>
              </a:rPr>
              <a:t>Spreading &amp; velocity decay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122F607-A3C9-FE17-E655-C2D90C284314}"/>
              </a:ext>
            </a:extLst>
          </p:cNvPr>
          <p:cNvCxnSpPr>
            <a:stCxn id="22" idx="2"/>
            <a:endCxn id="20" idx="0"/>
          </p:cNvCxnSpPr>
          <p:nvPr/>
        </p:nvCxnSpPr>
        <p:spPr>
          <a:xfrm>
            <a:off x="2164080" y="2692330"/>
            <a:ext cx="0" cy="64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0C5AE99-7163-9509-B1EC-112B8995F40D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>
            <a:off x="2164080" y="4260512"/>
            <a:ext cx="0" cy="566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73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DC40-13B1-D353-0743-222E178D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F3E1BD-73D5-F754-B48F-A9FF3C9A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8</a:t>
            </a:fld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009FB55-547F-9ACF-4879-E4C2B82A6951}"/>
              </a:ext>
            </a:extLst>
          </p:cNvPr>
          <p:cNvSpPr txBox="1">
            <a:spLocks/>
          </p:cNvSpPr>
          <p:nvPr/>
        </p:nvSpPr>
        <p:spPr>
          <a:xfrm>
            <a:off x="628650" y="608490"/>
            <a:ext cx="7886700" cy="838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Why it Fails: Vortex Stretching</a:t>
            </a:r>
            <a:endParaRPr lang="en-GB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B103B4-199A-C260-412F-CE162337A3B1}"/>
              </a:ext>
            </a:extLst>
          </p:cNvPr>
          <p:cNvSpPr txBox="1"/>
          <p:nvPr/>
        </p:nvSpPr>
        <p:spPr>
          <a:xfrm>
            <a:off x="628650" y="1242060"/>
            <a:ext cx="70446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Arial" panose="020B0604020202020204" pitchFamily="34" charset="0"/>
                <a:cs typeface="Arial" panose="020B0604020202020204" pitchFamily="34" charset="0"/>
              </a:rPr>
              <a:t>Dissipation Deficit</a:t>
            </a:r>
            <a:endParaRPr lang="en-GB" sz="2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DAFC3C-3DEF-16D4-1053-0101D1602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73"/>
          <a:stretch>
            <a:fillRect/>
          </a:stretch>
        </p:blipFill>
        <p:spPr bwMode="auto">
          <a:xfrm>
            <a:off x="481931" y="4500608"/>
            <a:ext cx="2482471" cy="157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ABC3149-1447-D6B9-2A8F-A14EB2F554F3}"/>
              </a:ext>
            </a:extLst>
          </p:cNvPr>
          <p:cNvSpPr txBox="1"/>
          <p:nvPr/>
        </p:nvSpPr>
        <p:spPr>
          <a:xfrm>
            <a:off x="287939" y="6093794"/>
            <a:ext cx="28317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fr-FR"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Kercher</a:t>
            </a:r>
            <a:r>
              <a:rPr lang="fr-F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 et al., IEEE Trans. </a:t>
            </a:r>
            <a:r>
              <a:rPr lang="fr-FR"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</a:t>
            </a:r>
            <a:r>
              <a:rPr lang="fr-F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fr-FR"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Packag</a:t>
            </a:r>
            <a:r>
              <a:rPr lang="fr-F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fr-FR" sz="140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Technol</a:t>
            </a:r>
            <a:r>
              <a:rPr lang="fr-FR" sz="1400">
                <a:solidFill>
                  <a:schemeClr val="tx1">
                    <a:lumMod val="50000"/>
                    <a:lumOff val="50000"/>
                  </a:schemeClr>
                </a:solidFill>
              </a:rPr>
              <a:t>., 2003</a:t>
            </a:r>
            <a:endParaRPr lang="en-GB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5F613FF-3436-B4E3-1F49-8FE819073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12" name="Triangle rectangle 11">
            <a:extLst>
              <a:ext uri="{FF2B5EF4-FFF2-40B4-BE49-F238E27FC236}">
                <a16:creationId xmlns:a16="http://schemas.microsoft.com/office/drawing/2014/main" id="{5F8D2756-105A-DC89-1C69-1909C431DFFF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du numéro de diapositive 8">
            <a:extLst>
              <a:ext uri="{FF2B5EF4-FFF2-40B4-BE49-F238E27FC236}">
                <a16:creationId xmlns:a16="http://schemas.microsoft.com/office/drawing/2014/main" id="{F7981582-7303-FFC2-849A-FE09D62341E0}"/>
              </a:ext>
            </a:extLst>
          </p:cNvPr>
          <p:cNvSpPr txBox="1">
            <a:spLocks/>
          </p:cNvSpPr>
          <p:nvPr/>
        </p:nvSpPr>
        <p:spPr>
          <a:xfrm>
            <a:off x="8515351" y="6394451"/>
            <a:ext cx="4952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8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EC4A56F-6FEB-4231-144C-7F5E2D361921}"/>
              </a:ext>
            </a:extLst>
          </p:cNvPr>
          <p:cNvSpPr txBox="1"/>
          <p:nvPr/>
        </p:nvSpPr>
        <p:spPr>
          <a:xfrm>
            <a:off x="287939" y="2319228"/>
            <a:ext cx="1974916" cy="40011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000" dirty="0">
                <a:latin typeface="Arial"/>
                <a:cs typeface="Arial"/>
              </a:rPr>
              <a:t>Jet Spreading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B1A676-9969-A3FF-555B-6E08BC8AAD4D}"/>
              </a:ext>
            </a:extLst>
          </p:cNvPr>
          <p:cNvSpPr txBox="1"/>
          <p:nvPr/>
        </p:nvSpPr>
        <p:spPr>
          <a:xfrm>
            <a:off x="3002090" y="2320902"/>
            <a:ext cx="2422972" cy="40011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000" dirty="0">
                <a:latin typeface="Arial"/>
                <a:cs typeface="Arial"/>
              </a:rPr>
              <a:t>Vortex Stretching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E4CD79-3D1E-BF01-8B27-E0E4F2114D6F}"/>
                  </a:ext>
                </a:extLst>
              </p:cNvPr>
              <p:cNvSpPr txBox="1"/>
              <p:nvPr/>
            </p:nvSpPr>
            <p:spPr>
              <a:xfrm>
                <a:off x="5881689" y="2319228"/>
                <a:ext cx="861060" cy="461665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BE" sz="2400" b="0" i="1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fr-BE" sz="2400" b="0" i="1" smtClean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E4CD79-3D1E-BF01-8B27-E0E4F2114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689" y="2319228"/>
                <a:ext cx="86106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06FE815D-4265-2E38-8952-A2F912B1176E}"/>
              </a:ext>
            </a:extLst>
          </p:cNvPr>
          <p:cNvSpPr txBox="1"/>
          <p:nvPr/>
        </p:nvSpPr>
        <p:spPr>
          <a:xfrm>
            <a:off x="287939" y="3365618"/>
            <a:ext cx="2421927" cy="40011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000" dirty="0">
                <a:latin typeface="Arial"/>
                <a:cs typeface="Arial"/>
              </a:rPr>
              <a:t>Standard LEVM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0CCF20-C593-DF66-D000-898451DF1FB1}"/>
              </a:ext>
            </a:extLst>
          </p:cNvPr>
          <p:cNvSpPr txBox="1"/>
          <p:nvPr/>
        </p:nvSpPr>
        <p:spPr>
          <a:xfrm>
            <a:off x="3314700" y="3663598"/>
            <a:ext cx="25146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600" dirty="0">
                <a:latin typeface="Arial"/>
                <a:cs typeface="Arial"/>
              </a:rPr>
              <a:t>Do not sense stretching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2F23BB3-F0E2-593E-F822-4B2008BA17B8}"/>
                  </a:ext>
                </a:extLst>
              </p:cNvPr>
              <p:cNvSpPr txBox="1"/>
              <p:nvPr/>
            </p:nvSpPr>
            <p:spPr>
              <a:xfrm>
                <a:off x="6335603" y="3366950"/>
                <a:ext cx="797814" cy="461665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BE" sz="2400" i="1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fr-BE" sz="2400" i="1" smtClean="0">
                          <a:latin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2F23BB3-F0E2-593E-F822-4B2008BA1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603" y="3366950"/>
                <a:ext cx="79781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830136-DDD1-2D45-F2AD-5C09F9BE6EDB}"/>
                  </a:ext>
                </a:extLst>
              </p:cNvPr>
              <p:cNvSpPr txBox="1"/>
              <p:nvPr/>
            </p:nvSpPr>
            <p:spPr>
              <a:xfrm>
                <a:off x="6235732" y="4310963"/>
                <a:ext cx="1014031" cy="1267591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BE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sz="2400"/>
                  <a:t> </a:t>
                </a:r>
                <a14:m>
                  <m:oMath xmlns:m="http://schemas.openxmlformats.org/officeDocument/2006/math">
                    <m:r>
                      <a:rPr lang="fr-BE" sz="2400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fr-BE" sz="240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B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b="0"/>
                  <a:t> </a:t>
                </a:r>
                <a14:m>
                  <m:oMath xmlns:m="http://schemas.openxmlformats.org/officeDocument/2006/math">
                    <m:r>
                      <a:rPr lang="fr-BE" sz="2400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fr-BE" sz="2400"/>
              </a:p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fr-BE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Sup>
                          <m:sSubSupPr>
                            <m:ctrlP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BE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bar>
                  </m:oMath>
                </a14:m>
                <a:r>
                  <a:rPr lang="fr-BE" sz="2400"/>
                  <a:t> </a:t>
                </a:r>
                <a14:m>
                  <m:oMath xmlns:m="http://schemas.openxmlformats.org/officeDocument/2006/math">
                    <m:r>
                      <a:rPr lang="fr-BE" sz="2400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fr-BE" sz="2400" b="0"/>
                  <a:t> 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830136-DDD1-2D45-F2AD-5C09F9BE6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732" y="4310963"/>
                <a:ext cx="1014031" cy="1267591"/>
              </a:xfrm>
              <a:prstGeom prst="rect">
                <a:avLst/>
              </a:prstGeom>
              <a:blipFill>
                <a:blip r:embed="rId6"/>
                <a:stretch>
                  <a:fillRect b="-25592"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BAC4328A-4890-5E3A-3897-9891460426A0}"/>
              </a:ext>
            </a:extLst>
          </p:cNvPr>
          <p:cNvSpPr txBox="1"/>
          <p:nvPr/>
        </p:nvSpPr>
        <p:spPr>
          <a:xfrm>
            <a:off x="5374195" y="5856586"/>
            <a:ext cx="2737105" cy="400110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000" dirty="0">
                <a:latin typeface="Arial"/>
                <a:cs typeface="Arial"/>
              </a:rPr>
              <a:t>Round Jet Anomaly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1DEDA76-DD3A-3445-33B8-6AA4F4D63E2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262855" y="2519283"/>
            <a:ext cx="739235" cy="1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53113C6-F1C3-88FF-0013-4B2D2E1C97F3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5425062" y="2520957"/>
            <a:ext cx="456627" cy="29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6CFF764B-E665-2EED-BE28-29D3F26201DA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2709866" y="3565673"/>
            <a:ext cx="3625737" cy="3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238A9E4B-22F5-202F-EB77-505C6C2A397C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flipH="1">
            <a:off x="1498903" y="2721012"/>
            <a:ext cx="2714673" cy="6446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79E2C832-F3DF-CE54-AA34-97EC33ECF2D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6734510" y="3828615"/>
            <a:ext cx="8238" cy="482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6625260B-B4A0-128F-4F9A-0C3A28C48CDA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742748" y="5578554"/>
            <a:ext cx="0" cy="27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69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484C-3126-EBF9-6FED-31E53A5F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raphique 50">
            <a:extLst>
              <a:ext uri="{FF2B5EF4-FFF2-40B4-BE49-F238E27FC236}">
                <a16:creationId xmlns:a16="http://schemas.microsoft.com/office/drawing/2014/main" id="{4322BDD7-30F2-EE2A-3A00-2CE8C71A1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9613" y="2426139"/>
            <a:ext cx="4464409" cy="327960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B6FADF-DB1D-26C0-33B4-F7768960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C9A07-B69C-46AD-8568-0738FEE1CB2A}" type="slidenum">
              <a:rPr lang="en-US" smtClean="0"/>
              <a:t>9</a:t>
            </a:fld>
            <a:endParaRPr lang="en-US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7213982-C869-3E8B-7E0E-BFDD74D23D33}"/>
              </a:ext>
            </a:extLst>
          </p:cNvPr>
          <p:cNvSpPr txBox="1">
            <a:spLocks/>
          </p:cNvSpPr>
          <p:nvPr/>
        </p:nvSpPr>
        <p:spPr>
          <a:xfrm>
            <a:off x="628650" y="608490"/>
            <a:ext cx="7886700" cy="838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Why it Fails: Turbulence Anisotropy</a:t>
            </a:r>
            <a:endParaRPr lang="en-GB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945E0F-EDE7-CDD2-8A9B-EC160DD9E32F}"/>
              </a:ext>
            </a:extLst>
          </p:cNvPr>
          <p:cNvSpPr txBox="1"/>
          <p:nvPr/>
        </p:nvSpPr>
        <p:spPr>
          <a:xfrm>
            <a:off x="628650" y="1242060"/>
            <a:ext cx="70446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>
                <a:latin typeface="Arial" panose="020B0604020202020204" pitchFamily="34" charset="0"/>
                <a:cs typeface="Arial" panose="020B0604020202020204" pitchFamily="34" charset="0"/>
              </a:rPr>
              <a:t>Limitations of the </a:t>
            </a:r>
            <a:r>
              <a:rPr lang="en-US" sz="2600" err="1">
                <a:latin typeface="Arial" panose="020B0604020202020204" pitchFamily="34" charset="0"/>
                <a:cs typeface="Arial" panose="020B0604020202020204" pitchFamily="34" charset="0"/>
              </a:rPr>
              <a:t>Boussinesq</a:t>
            </a:r>
            <a:r>
              <a:rPr lang="en-US" sz="2600">
                <a:latin typeface="Arial" panose="020B0604020202020204" pitchFamily="34" charset="0"/>
                <a:cs typeface="Arial" panose="020B0604020202020204" pitchFamily="34" charset="0"/>
              </a:rPr>
              <a:t> Hypothesis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8BB3573-D056-56D3-160B-3AF004F640D0}"/>
              </a:ext>
            </a:extLst>
          </p:cNvPr>
          <p:cNvCxnSpPr>
            <a:cxnSpLocks/>
          </p:cNvCxnSpPr>
          <p:nvPr/>
        </p:nvCxnSpPr>
        <p:spPr>
          <a:xfrm flipV="1">
            <a:off x="5907367" y="3663696"/>
            <a:ext cx="0" cy="4968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3EA8CBA-D7E6-E66D-ED90-D5F3D80ADFDC}"/>
              </a:ext>
            </a:extLst>
          </p:cNvPr>
          <p:cNvCxnSpPr>
            <a:cxnSpLocks/>
          </p:cNvCxnSpPr>
          <p:nvPr/>
        </p:nvCxnSpPr>
        <p:spPr>
          <a:xfrm flipV="1">
            <a:off x="8389834" y="2639568"/>
            <a:ext cx="0" cy="4026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2CFBC21-0285-1D5F-D4C6-D1E21D741B22}"/>
              </a:ext>
            </a:extLst>
          </p:cNvPr>
          <p:cNvCxnSpPr>
            <a:cxnSpLocks/>
          </p:cNvCxnSpPr>
          <p:nvPr/>
        </p:nvCxnSpPr>
        <p:spPr>
          <a:xfrm flipV="1">
            <a:off x="7137014" y="2790173"/>
            <a:ext cx="0" cy="400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B754DBE-D614-B080-09F1-1E75343759F6}"/>
              </a:ext>
            </a:extLst>
          </p:cNvPr>
          <p:cNvSpPr txBox="1"/>
          <p:nvPr/>
        </p:nvSpPr>
        <p:spPr>
          <a:xfrm>
            <a:off x="8455153" y="2639568"/>
            <a:ext cx="731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x1.2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E640C5C-75C2-B2AF-24DA-E22C38FB8B01}"/>
              </a:ext>
            </a:extLst>
          </p:cNvPr>
          <p:cNvSpPr txBox="1"/>
          <p:nvPr/>
        </p:nvSpPr>
        <p:spPr>
          <a:xfrm>
            <a:off x="5907367" y="3712056"/>
            <a:ext cx="764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x1.4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DEE9822-8A12-025B-31C5-99C7DB6371A7}"/>
              </a:ext>
            </a:extLst>
          </p:cNvPr>
          <p:cNvSpPr txBox="1"/>
          <p:nvPr/>
        </p:nvSpPr>
        <p:spPr>
          <a:xfrm>
            <a:off x="7169017" y="2790173"/>
            <a:ext cx="764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x1.2</a:t>
            </a:r>
          </a:p>
        </p:txBody>
      </p:sp>
      <p:pic>
        <p:nvPicPr>
          <p:cNvPr id="19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EBFE32F-4C17-C415-2103-BB9CB5828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20" name="Triangle rectangle 19">
            <a:extLst>
              <a:ext uri="{FF2B5EF4-FFF2-40B4-BE49-F238E27FC236}">
                <a16:creationId xmlns:a16="http://schemas.microsoft.com/office/drawing/2014/main" id="{F06D3F54-F3C7-0630-B3DE-4771166A76E3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space réservé du numéro de diapositive 8">
            <a:extLst>
              <a:ext uri="{FF2B5EF4-FFF2-40B4-BE49-F238E27FC236}">
                <a16:creationId xmlns:a16="http://schemas.microsoft.com/office/drawing/2014/main" id="{4918A872-987A-A86F-80D2-66E5BD1A645E}"/>
              </a:ext>
            </a:extLst>
          </p:cNvPr>
          <p:cNvSpPr txBox="1">
            <a:spLocks/>
          </p:cNvSpPr>
          <p:nvPr/>
        </p:nvSpPr>
        <p:spPr>
          <a:xfrm>
            <a:off x="8455153" y="6394451"/>
            <a:ext cx="555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9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A7F8511-0737-3F8C-4E12-B58B57AEBE23}"/>
              </a:ext>
            </a:extLst>
          </p:cNvPr>
          <p:cNvSpPr txBox="1"/>
          <p:nvPr/>
        </p:nvSpPr>
        <p:spPr>
          <a:xfrm>
            <a:off x="628650" y="2071511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Jet turbulence is strongly anisotropic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5FD72D29-3A73-C815-2236-42E35342E09F}"/>
                  </a:ext>
                </a:extLst>
              </p:cNvPr>
              <p:cNvSpPr txBox="1"/>
              <p:nvPr/>
            </p:nvSpPr>
            <p:spPr>
              <a:xfrm>
                <a:off x="628650" y="3190283"/>
                <a:ext cx="2414016" cy="646331"/>
              </a:xfrm>
              <a:prstGeom prst="rect">
                <a:avLst/>
              </a:prstGeom>
              <a:noFill/>
              <a:ln w="19050">
                <a:solidFill>
                  <a:srgbClr val="00707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/>
                  <a:t>Boussinesq hyp.</a:t>
                </a:r>
              </a:p>
              <a:p>
                <a:pPr algn="ctr"/>
                <a:r>
                  <a:rPr lang="en-GB"/>
                  <a:t>Single scalar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fr-BE" b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5FD72D29-3A73-C815-2236-42E35342E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190283"/>
                <a:ext cx="2414016" cy="646331"/>
              </a:xfrm>
              <a:prstGeom prst="rect">
                <a:avLst/>
              </a:prstGeom>
              <a:blipFill>
                <a:blip r:embed="rId5"/>
                <a:stretch>
                  <a:fillRect t="-3670" b="-11927"/>
                </a:stretch>
              </a:blipFill>
              <a:ln w="19050">
                <a:solidFill>
                  <a:srgbClr val="00707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519B6FC3-2AA2-A0F9-7B2E-4F8E77405E41}"/>
              </a:ext>
            </a:extLst>
          </p:cNvPr>
          <p:cNvSpPr txBox="1"/>
          <p:nvPr/>
        </p:nvSpPr>
        <p:spPr>
          <a:xfrm>
            <a:off x="628650" y="4295264"/>
            <a:ext cx="2414016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Unphysical isotropic turbulence forced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F90D269-6646-D039-EC16-C15BA7246161}"/>
              </a:ext>
            </a:extLst>
          </p:cNvPr>
          <p:cNvSpPr txBox="1"/>
          <p:nvPr/>
        </p:nvSpPr>
        <p:spPr>
          <a:xfrm>
            <a:off x="549783" y="5400246"/>
            <a:ext cx="2571750" cy="646331"/>
          </a:xfrm>
          <a:prstGeom prst="rect">
            <a:avLst/>
          </a:prstGeom>
          <a:noFill/>
          <a:ln w="19050">
            <a:solidFill>
              <a:srgbClr val="00707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/>
              <a:t>Bad Reynolds stress distribution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C0FC680F-44DC-DDAD-C3D3-1D1D55B4E825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>
            <a:off x="1835658" y="3836614"/>
            <a:ext cx="0" cy="45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3E418C0-AFD8-465C-A9FF-3DB4DE677D38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1835658" y="4941595"/>
            <a:ext cx="0" cy="458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73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12039886-99DA-41AF-49E7-10F4C75358BD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07A432-126B-70E9-7A7D-7E2597CD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>
                <a:latin typeface="Arial"/>
                <a:cs typeface="Arial"/>
              </a:rPr>
              <a:t>Conclusion </a:t>
            </a:r>
            <a:endParaRPr lang="en-US" sz="40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7B2E4-3219-DB39-B7BB-844BAFD2BD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5968" y="1831721"/>
                <a:ext cx="8137398" cy="435133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b="1">
                    <a:latin typeface="Arial" panose="020B0604020202020204" pitchFamily="34" charset="0"/>
                    <a:cs typeface="Arial" panose="020B0604020202020204" pitchFamily="34" charset="0"/>
                  </a:rPr>
                  <a:t>Summary:</a:t>
                </a:r>
                <a:r>
                  <a:rPr lang="en-GB">
                    <a:latin typeface="Arial" panose="020B0604020202020204" pitchFamily="34" charset="0"/>
                    <a:cs typeface="Arial" panose="020B0604020202020204" pitchFamily="34" charset="0"/>
                  </a:rPr>
                  <a:t> RANS models are qualitatively good but quantitatively inaccurate. Large overprediction of jet spreading for both models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GB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b="1">
                    <a:latin typeface="Arial" panose="020B0604020202020204" pitchFamily="34" charset="0"/>
                    <a:cs typeface="Arial" panose="020B0604020202020204" pitchFamily="34" charset="0"/>
                  </a:rPr>
                  <a:t>Future Work:</a:t>
                </a:r>
                <a:r>
                  <a:rPr lang="en-GB">
                    <a:latin typeface="Arial" panose="020B0604020202020204" pitchFamily="34" charset="0"/>
                    <a:cs typeface="Arial" panose="020B0604020202020204" pitchFamily="34" charset="0"/>
                  </a:rPr>
                  <a:t> Use Pope* correction term in 	   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>
                    <a:latin typeface="Arial" panose="020B0604020202020204" pitchFamily="34" charset="0"/>
                    <a:cs typeface="Arial" panose="020B0604020202020204" pitchFamily="34" charset="0"/>
                  </a:rPr>
                  <a:t>–equation for vortex stretching, Reynolds Stress Models (RSM) for anisotropy or LES/DES for higher-fidelity</a:t>
                </a:r>
              </a:p>
              <a:p>
                <a:pPr marL="0" indent="0">
                  <a:buNone/>
                </a:pPr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7B2E4-3219-DB39-B7BB-844BAFD2B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968" y="1831721"/>
                <a:ext cx="8137398" cy="4351338"/>
              </a:xfrm>
              <a:blipFill>
                <a:blip r:embed="rId2"/>
                <a:stretch>
                  <a:fillRect l="-1348" t="-2381" r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69D10B7-C0CA-FCE6-4BFE-6E5E4EAB4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4" name="Espace réservé du numéro de diapositive 8">
            <a:extLst>
              <a:ext uri="{FF2B5EF4-FFF2-40B4-BE49-F238E27FC236}">
                <a16:creationId xmlns:a16="http://schemas.microsoft.com/office/drawing/2014/main" id="{33615824-56B9-BFB5-2199-B811572E3CDB}"/>
              </a:ext>
            </a:extLst>
          </p:cNvPr>
          <p:cNvSpPr txBox="1">
            <a:spLocks/>
          </p:cNvSpPr>
          <p:nvPr/>
        </p:nvSpPr>
        <p:spPr>
          <a:xfrm>
            <a:off x="8461249" y="6389008"/>
            <a:ext cx="54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10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E1327A6-C6E9-7CA9-C700-0DCDF21FE219}"/>
              </a:ext>
            </a:extLst>
          </p:cNvPr>
          <p:cNvSpPr txBox="1"/>
          <p:nvPr/>
        </p:nvSpPr>
        <p:spPr>
          <a:xfrm>
            <a:off x="310895" y="6266688"/>
            <a:ext cx="7598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</a:rPr>
              <a:t>* An explanation of the turbulent round jet/plane jet anomaly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, S. Pope, 1978</a:t>
            </a:r>
            <a:endParaRPr lang="en-GB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94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6C1A-08ED-61F0-C970-DC970361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32CFA2FD-0BD7-4AEA-3910-BD101EFA2BE5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7A7151D6-3DB4-097B-740E-DAD8355DF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5000" err="1">
                <a:latin typeface="Arial"/>
                <a:cs typeface="Arial"/>
              </a:rPr>
              <a:t>Thank</a:t>
            </a:r>
            <a:r>
              <a:rPr lang="fr-FR" sz="5000">
                <a:latin typeface="Arial"/>
                <a:cs typeface="Arial"/>
              </a:rPr>
              <a:t> </a:t>
            </a:r>
            <a:r>
              <a:rPr lang="fr-FR" sz="5000" err="1">
                <a:latin typeface="Arial"/>
                <a:cs typeface="Arial"/>
              </a:rPr>
              <a:t>you</a:t>
            </a:r>
            <a:r>
              <a:rPr lang="fr-FR" sz="5000">
                <a:latin typeface="Arial"/>
                <a:cs typeface="Arial"/>
              </a:rPr>
              <a:t> for </a:t>
            </a:r>
            <a:r>
              <a:rPr lang="fr-FR" sz="5000" err="1">
                <a:latin typeface="Arial"/>
                <a:cs typeface="Arial"/>
              </a:rPr>
              <a:t>your</a:t>
            </a:r>
            <a:r>
              <a:rPr lang="fr-FR" sz="5000">
                <a:latin typeface="Arial"/>
                <a:cs typeface="Arial"/>
              </a:rPr>
              <a:t> attention 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CA22BA-3E58-2827-FAD6-0BB0F707B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9AFF6F4-4A8C-868F-0514-C683345A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2" name="Espace réservé du numéro de diapositive 8">
            <a:extLst>
              <a:ext uri="{FF2B5EF4-FFF2-40B4-BE49-F238E27FC236}">
                <a16:creationId xmlns:a16="http://schemas.microsoft.com/office/drawing/2014/main" id="{6DF32CCC-6ECB-367A-C33C-A2A4DFDB12DC}"/>
              </a:ext>
            </a:extLst>
          </p:cNvPr>
          <p:cNvSpPr txBox="1">
            <a:spLocks/>
          </p:cNvSpPr>
          <p:nvPr/>
        </p:nvSpPr>
        <p:spPr>
          <a:xfrm>
            <a:off x="6953249" y="63944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11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139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D081-B528-B9F4-19D6-02996C76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DFDAAD8A-0FCF-D9B0-F65F-640EFC925D63}"/>
              </a:ext>
            </a:extLst>
          </p:cNvPr>
          <p:cNvSpPr/>
          <p:nvPr/>
        </p:nvSpPr>
        <p:spPr>
          <a:xfrm rot="16200000">
            <a:off x="7584775" y="5305065"/>
            <a:ext cx="1571805" cy="1539636"/>
          </a:xfrm>
          <a:prstGeom prst="rtTriangl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6C558-5AFC-68A5-E8EC-BC50A35242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Espace réservé du contenu 3" descr="Une image contenant Graphique, Caractère coloré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743EBF9-EA2C-F4F8-0480-AD6D74C4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985" y="-734"/>
            <a:ext cx="1219200" cy="1038225"/>
          </a:xfrm>
          <a:prstGeom prst="rect">
            <a:avLst/>
          </a:prstGeom>
        </p:spPr>
      </p:pic>
      <p:sp>
        <p:nvSpPr>
          <p:cNvPr id="2" name="Espace réservé du numéro de diapositive 8">
            <a:extLst>
              <a:ext uri="{FF2B5EF4-FFF2-40B4-BE49-F238E27FC236}">
                <a16:creationId xmlns:a16="http://schemas.microsoft.com/office/drawing/2014/main" id="{7759DE3F-F258-BF9F-8901-CF28B23F76E9}"/>
              </a:ext>
            </a:extLst>
          </p:cNvPr>
          <p:cNvSpPr txBox="1">
            <a:spLocks/>
          </p:cNvSpPr>
          <p:nvPr/>
        </p:nvSpPr>
        <p:spPr>
          <a:xfrm>
            <a:off x="6953249" y="63944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FC9A07-B69C-46AD-8568-0738FEE1CB2A}" type="slidenum">
              <a:rPr lang="en-US" sz="2000" smtClean="0">
                <a:solidFill>
                  <a:schemeClr val="tx1"/>
                </a:solidFill>
                <a:latin typeface="Arial"/>
                <a:cs typeface="Arial"/>
              </a:rPr>
              <a:pPr/>
              <a:t>12</a:t>
            </a:fld>
            <a:endParaRPr lang="fr-FR"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1D5FBB3-72E5-9A60-214C-989E440B93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825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394</Words>
  <Application>Microsoft Office PowerPoint</Application>
  <PresentationFormat>Affichage à l'écran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Arial,Sans-Serif</vt:lpstr>
      <vt:lpstr>Cambria Math</vt:lpstr>
      <vt:lpstr>Thème Office</vt:lpstr>
      <vt:lpstr>2D RANS Simulation  of an Axisymmetric Turbulent  Round Jet</vt:lpstr>
      <vt:lpstr>Problem description &amp; geometry</vt:lpstr>
      <vt:lpstr>CFD modelling strategy</vt:lpstr>
      <vt:lpstr>Convergence / Verification process</vt:lpstr>
      <vt:lpstr>Results : Self-Similarity</vt:lpstr>
      <vt:lpstr>Results : The Round Jet Anomaly</vt:lpstr>
      <vt:lpstr>Présentation PowerPoint</vt:lpstr>
      <vt:lpstr>Présentation PowerPoint</vt:lpstr>
      <vt:lpstr>Présentation PowerPoint</vt:lpstr>
      <vt:lpstr>Conclusion </vt:lpstr>
      <vt:lpstr>Thank you for your attention !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Beauve Tom</cp:lastModifiedBy>
  <cp:revision>3</cp:revision>
  <dcterms:created xsi:type="dcterms:W3CDTF">2026-01-05T10:20:55Z</dcterms:created>
  <dcterms:modified xsi:type="dcterms:W3CDTF">2026-01-06T08:03:43Z</dcterms:modified>
</cp:coreProperties>
</file>